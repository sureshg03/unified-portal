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0864"/>
    <a:srgbClr val="2D1341"/>
    <a:srgbClr val="F80E83"/>
    <a:srgbClr val="9B0D9E"/>
    <a:srgbClr val="BA43EF"/>
    <a:srgbClr val="EC42F0"/>
    <a:srgbClr val="A30554"/>
    <a:srgbClr val="F2F2F2"/>
    <a:srgbClr val="4F96BE"/>
    <a:srgbClr val="298C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510" y="2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2025-09-27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2025-09-27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2025-09-27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2025-09-27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2025-09-27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2025-09-27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2025-09-27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2025-09-27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hyperlink" Target="https://pmevidya.education.gov.in/diksha.html" TargetMode="External"/><Relationship Id="rId4" Type="http://schemas.openxmlformats.org/officeDocument/2006/relationships/hyperlink" Target="https://learningequality.org/kolibri/about-kolibr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2" y="851523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3" y="171588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87936"/>
            <a:ext cx="62824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SIH25019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Digital Learning Platform for Rural School Students in Nabha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- 75659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TECH IQ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croll: Vertical 178">
            <a:extLst>
              <a:ext uri="{FF2B5EF4-FFF2-40B4-BE49-F238E27FC236}">
                <a16:creationId xmlns:a16="http://schemas.microsoft.com/office/drawing/2014/main" id="{3368706A-3B23-43AB-BE0F-93308321279B}"/>
              </a:ext>
            </a:extLst>
          </p:cNvPr>
          <p:cNvSpPr/>
          <p:nvPr/>
        </p:nvSpPr>
        <p:spPr>
          <a:xfrm>
            <a:off x="9583102" y="1434595"/>
            <a:ext cx="2584967" cy="1373358"/>
          </a:xfrm>
          <a:prstGeom prst="verticalScroll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73" name="Parallelogram 15372">
            <a:extLst>
              <a:ext uri="{FF2B5EF4-FFF2-40B4-BE49-F238E27FC236}">
                <a16:creationId xmlns:a16="http://schemas.microsoft.com/office/drawing/2014/main" id="{23E71056-7BF1-4D12-8B58-FFF92F7B8CE9}"/>
              </a:ext>
            </a:extLst>
          </p:cNvPr>
          <p:cNvSpPr/>
          <p:nvPr/>
        </p:nvSpPr>
        <p:spPr>
          <a:xfrm>
            <a:off x="1512280" y="5962961"/>
            <a:ext cx="8370479" cy="331326"/>
          </a:xfrm>
          <a:prstGeom prst="parallelogram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8083" y="-104837"/>
            <a:ext cx="10972800" cy="11430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TRANSFORMING DIGITAL PLATFORM FOR </a:t>
            </a: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INCLUSIVE RURAL EDUCATION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dirty="0" err="1">
                <a:solidFill>
                  <a:schemeClr val="bg1"/>
                </a:solidFill>
              </a:rPr>
              <a:t>SIH</a:t>
            </a:r>
            <a:r>
              <a:rPr lang="en-US" dirty="0">
                <a:solidFill>
                  <a:schemeClr val="bg1"/>
                </a:solidFill>
              </a:rPr>
              <a:t> Idea submission- Template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6358" y="2509291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0625" y="1051277"/>
            <a:ext cx="3275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</a:t>
            </a:r>
          </a:p>
        </p:txBody>
      </p:sp>
      <p:sp>
        <p:nvSpPr>
          <p:cNvPr id="28" name="Oval 27" descr="Your startup LOGO">
            <a:extLst>
              <a:ext uri="{FF2B5EF4-FFF2-40B4-BE49-F238E27FC236}">
                <a16:creationId xmlns:a16="http://schemas.microsoft.com/office/drawing/2014/main" id="{781BDC1D-AE23-4771-8B7B-672FB51379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87077"/>
            <a:ext cx="13575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IQ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21421D-23DF-4CBC-BD4C-F61418573351}"/>
              </a:ext>
            </a:extLst>
          </p:cNvPr>
          <p:cNvSpPr txBox="1"/>
          <p:nvPr/>
        </p:nvSpPr>
        <p:spPr>
          <a:xfrm>
            <a:off x="-11240" y="1091989"/>
            <a:ext cx="6108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Problem: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A50867-4AF7-4A32-B715-939F12962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29" y="1390948"/>
            <a:ext cx="6588663" cy="102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Rural schools face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poor internet, outdated systems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digital literacy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Students struggle with accessing quality educational resources.</a:t>
            </a: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Teachers lack tools to track progress effectively.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ABAAE-92E6-4F2B-B8B5-248B6CF02D8D}"/>
              </a:ext>
            </a:extLst>
          </p:cNvPr>
          <p:cNvSpPr txBox="1"/>
          <p:nvPr/>
        </p:nvSpPr>
        <p:spPr>
          <a:xfrm>
            <a:off x="1740814" y="5918735"/>
            <a:ext cx="1098394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single platform for students, teachers, and parents, designed for low connectivity areas.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DE4A9A-B7F6-4EC7-81CC-BCAB62C56C81}"/>
              </a:ext>
            </a:extLst>
          </p:cNvPr>
          <p:cNvSpPr/>
          <p:nvPr/>
        </p:nvSpPr>
        <p:spPr>
          <a:xfrm>
            <a:off x="298287" y="2994073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26BF06-597D-4B04-9798-C4EE9D5E02FA}"/>
              </a:ext>
            </a:extLst>
          </p:cNvPr>
          <p:cNvSpPr txBox="1"/>
          <p:nvPr/>
        </p:nvSpPr>
        <p:spPr>
          <a:xfrm>
            <a:off x="297047" y="3376317"/>
            <a:ext cx="2661269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Download quizzes, notes,      PDFs, videos, and assignments for offline use.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6BA4AEA-9053-49FC-A757-94BF2A1F53B8}"/>
              </a:ext>
            </a:extLst>
          </p:cNvPr>
          <p:cNvSpPr/>
          <p:nvPr/>
        </p:nvSpPr>
        <p:spPr>
          <a:xfrm>
            <a:off x="3333356" y="2904596"/>
            <a:ext cx="2601314" cy="140003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A6AAC5-E4F5-4DD7-A409-012BFC16EFAC}"/>
              </a:ext>
            </a:extLst>
          </p:cNvPr>
          <p:cNvSpPr txBox="1"/>
          <p:nvPr/>
        </p:nvSpPr>
        <p:spPr>
          <a:xfrm>
            <a:off x="2676520" y="3480511"/>
            <a:ext cx="3437067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Content available in 8+ Indian languages.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CFB82B9-B873-4513-B73B-6B4EA4006465}"/>
              </a:ext>
            </a:extLst>
          </p:cNvPr>
          <p:cNvSpPr/>
          <p:nvPr/>
        </p:nvSpPr>
        <p:spPr>
          <a:xfrm>
            <a:off x="5926915" y="2979552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BFD891-1109-49CA-8E0E-E35F6C5BA076}"/>
              </a:ext>
            </a:extLst>
          </p:cNvPr>
          <p:cNvSpPr txBox="1"/>
          <p:nvPr/>
        </p:nvSpPr>
        <p:spPr>
          <a:xfrm>
            <a:off x="5970649" y="3387759"/>
            <a:ext cx="2521172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Smart tutor guides students and provides interview prep support.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FE6AEA-913E-45CF-AAB3-A88625AA3B64}"/>
              </a:ext>
            </a:extLst>
          </p:cNvPr>
          <p:cNvSpPr txBox="1"/>
          <p:nvPr/>
        </p:nvSpPr>
        <p:spPr>
          <a:xfrm>
            <a:off x="8843973" y="3382269"/>
            <a:ext cx="2458468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Gamified quizzes, coding practice, badges, and leaderboards.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2AF69AE-2806-426E-B27B-82AC5C02A2FB}"/>
              </a:ext>
            </a:extLst>
          </p:cNvPr>
          <p:cNvSpPr/>
          <p:nvPr/>
        </p:nvSpPr>
        <p:spPr>
          <a:xfrm>
            <a:off x="1691823" y="4504215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A876056-D6C5-47D8-8711-9CD0321E087C}"/>
              </a:ext>
            </a:extLst>
          </p:cNvPr>
          <p:cNvSpPr/>
          <p:nvPr/>
        </p:nvSpPr>
        <p:spPr>
          <a:xfrm>
            <a:off x="4449197" y="4515949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F80E8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6072B7-6F31-4563-ADEC-B6F110CF47AA}"/>
              </a:ext>
            </a:extLst>
          </p:cNvPr>
          <p:cNvSpPr txBox="1"/>
          <p:nvPr/>
        </p:nvSpPr>
        <p:spPr>
          <a:xfrm>
            <a:off x="1760516" y="4929489"/>
            <a:ext cx="2521172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Track attendance, assignments, and student progress.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42B02-6014-497B-A62C-0323A7F14D3A}"/>
              </a:ext>
            </a:extLst>
          </p:cNvPr>
          <p:cNvSpPr txBox="1"/>
          <p:nvPr/>
        </p:nvSpPr>
        <p:spPr>
          <a:xfrm>
            <a:off x="4484367" y="5029134"/>
            <a:ext cx="252117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Run programs anytime offline or online.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BB23F9D-198E-45B8-890E-B1A03AB7A253}"/>
              </a:ext>
            </a:extLst>
          </p:cNvPr>
          <p:cNvSpPr/>
          <p:nvPr/>
        </p:nvSpPr>
        <p:spPr>
          <a:xfrm>
            <a:off x="7260225" y="4510731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62086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4182AE-0119-4761-9D22-6750940EA7CC}"/>
              </a:ext>
            </a:extLst>
          </p:cNvPr>
          <p:cNvSpPr txBox="1"/>
          <p:nvPr/>
        </p:nvSpPr>
        <p:spPr>
          <a:xfrm>
            <a:off x="7292543" y="5039167"/>
            <a:ext cx="252117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Accessible for students with reading difficulties.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28DA0A7-550D-450B-A300-A657B8A60AA8}"/>
              </a:ext>
            </a:extLst>
          </p:cNvPr>
          <p:cNvSpPr/>
          <p:nvPr/>
        </p:nvSpPr>
        <p:spPr>
          <a:xfrm>
            <a:off x="3104817" y="2987648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DE70846-27D7-40DC-AAE6-19695818F457}"/>
              </a:ext>
            </a:extLst>
          </p:cNvPr>
          <p:cNvSpPr/>
          <p:nvPr/>
        </p:nvSpPr>
        <p:spPr>
          <a:xfrm>
            <a:off x="7280658" y="4765362"/>
            <a:ext cx="2584967" cy="263772"/>
          </a:xfrm>
          <a:prstGeom prst="rect">
            <a:avLst/>
          </a:prstGeom>
          <a:solidFill>
            <a:srgbClr val="2D1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4F684FA-9A7E-46B1-8A6F-263346906130}"/>
              </a:ext>
            </a:extLst>
          </p:cNvPr>
          <p:cNvSpPr/>
          <p:nvPr/>
        </p:nvSpPr>
        <p:spPr>
          <a:xfrm>
            <a:off x="7271622" y="4498192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2D134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8E73F5D-6C63-415E-971D-BABC9ABF72D0}"/>
              </a:ext>
            </a:extLst>
          </p:cNvPr>
          <p:cNvSpPr/>
          <p:nvPr/>
        </p:nvSpPr>
        <p:spPr>
          <a:xfrm>
            <a:off x="4455742" y="4802173"/>
            <a:ext cx="2594770" cy="226962"/>
          </a:xfrm>
          <a:prstGeom prst="rect">
            <a:avLst/>
          </a:prstGeom>
          <a:solidFill>
            <a:srgbClr val="F80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AE0DBFE-B559-4F15-B42E-9CB49CD226EE}"/>
              </a:ext>
            </a:extLst>
          </p:cNvPr>
          <p:cNvSpPr/>
          <p:nvPr/>
        </p:nvSpPr>
        <p:spPr>
          <a:xfrm>
            <a:off x="4457156" y="4535002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F80E8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933247F-5D95-4409-8515-CB4E17CDE6C3}"/>
              </a:ext>
            </a:extLst>
          </p:cNvPr>
          <p:cNvSpPr/>
          <p:nvPr/>
        </p:nvSpPr>
        <p:spPr>
          <a:xfrm>
            <a:off x="1693769" y="4783180"/>
            <a:ext cx="2594687" cy="280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736C566-125D-40BD-AEBE-19E1CFA8F391}"/>
              </a:ext>
            </a:extLst>
          </p:cNvPr>
          <p:cNvSpPr/>
          <p:nvPr/>
        </p:nvSpPr>
        <p:spPr>
          <a:xfrm>
            <a:off x="1695184" y="4516010"/>
            <a:ext cx="2593272" cy="441014"/>
          </a:xfrm>
          <a:prstGeom prst="roundRect">
            <a:avLst>
              <a:gd name="adj" fmla="val 40623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97F0D48-DE23-4F71-B509-F916BC4CCEB9}"/>
              </a:ext>
            </a:extLst>
          </p:cNvPr>
          <p:cNvSpPr/>
          <p:nvPr/>
        </p:nvSpPr>
        <p:spPr>
          <a:xfrm>
            <a:off x="5950397" y="3237663"/>
            <a:ext cx="2577832" cy="2612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F1B3D46-E8AB-4800-B4F1-1498F0CB7B5C}"/>
              </a:ext>
            </a:extLst>
          </p:cNvPr>
          <p:cNvSpPr/>
          <p:nvPr/>
        </p:nvSpPr>
        <p:spPr>
          <a:xfrm>
            <a:off x="5951811" y="2970493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1769369-83CA-4FE4-863D-F97F0DB2C1F8}"/>
              </a:ext>
            </a:extLst>
          </p:cNvPr>
          <p:cNvSpPr/>
          <p:nvPr/>
        </p:nvSpPr>
        <p:spPr>
          <a:xfrm>
            <a:off x="8766040" y="3243458"/>
            <a:ext cx="2577832" cy="26127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D04DC706-3DEE-46B7-82BA-7196D2E25F70}"/>
              </a:ext>
            </a:extLst>
          </p:cNvPr>
          <p:cNvSpPr/>
          <p:nvPr/>
        </p:nvSpPr>
        <p:spPr>
          <a:xfrm>
            <a:off x="8767454" y="2976288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76A06CF-776B-47D0-8135-2077E3954D76}"/>
              </a:ext>
            </a:extLst>
          </p:cNvPr>
          <p:cNvSpPr/>
          <p:nvPr/>
        </p:nvSpPr>
        <p:spPr>
          <a:xfrm>
            <a:off x="3123021" y="3279798"/>
            <a:ext cx="2577832" cy="26127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91CA6EA-D42C-47E5-B6D8-FD5FF44F9EC5}"/>
              </a:ext>
            </a:extLst>
          </p:cNvPr>
          <p:cNvSpPr/>
          <p:nvPr/>
        </p:nvSpPr>
        <p:spPr>
          <a:xfrm>
            <a:off x="3124435" y="2995043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62B389C-FE77-42DB-B6E7-AE5BCC2EB499}"/>
              </a:ext>
            </a:extLst>
          </p:cNvPr>
          <p:cNvSpPr/>
          <p:nvPr/>
        </p:nvSpPr>
        <p:spPr>
          <a:xfrm>
            <a:off x="310161" y="3260648"/>
            <a:ext cx="2589440" cy="2552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F4EDDD1-046C-4FF4-9AC0-267966762819}"/>
              </a:ext>
            </a:extLst>
          </p:cNvPr>
          <p:cNvSpPr/>
          <p:nvPr/>
        </p:nvSpPr>
        <p:spPr>
          <a:xfrm>
            <a:off x="311575" y="3011063"/>
            <a:ext cx="2584967" cy="441014"/>
          </a:xfrm>
          <a:prstGeom prst="roundRect">
            <a:avLst>
              <a:gd name="adj" fmla="val 40623"/>
            </a:avLst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FCB91B3-98A8-4C76-9E0A-9ADA023FC46F}"/>
              </a:ext>
            </a:extLst>
          </p:cNvPr>
          <p:cNvSpPr txBox="1"/>
          <p:nvPr/>
        </p:nvSpPr>
        <p:spPr>
          <a:xfrm>
            <a:off x="1019587" y="3122445"/>
            <a:ext cx="14950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 Access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DF5B660-732D-473B-A65F-A94590F219AB}"/>
              </a:ext>
            </a:extLst>
          </p:cNvPr>
          <p:cNvSpPr txBox="1"/>
          <p:nvPr/>
        </p:nvSpPr>
        <p:spPr>
          <a:xfrm>
            <a:off x="3410570" y="3116882"/>
            <a:ext cx="233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Multi-Language Support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01BB0D8-32AD-48CB-A618-FE78794CB656}"/>
              </a:ext>
            </a:extLst>
          </p:cNvPr>
          <p:cNvSpPr txBox="1"/>
          <p:nvPr/>
        </p:nvSpPr>
        <p:spPr>
          <a:xfrm>
            <a:off x="6399969" y="3094157"/>
            <a:ext cx="233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Assistance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9AA39D-F8EA-422E-987F-BC981346C07B}"/>
              </a:ext>
            </a:extLst>
          </p:cNvPr>
          <p:cNvSpPr txBox="1"/>
          <p:nvPr/>
        </p:nvSpPr>
        <p:spPr>
          <a:xfrm>
            <a:off x="9334128" y="3088644"/>
            <a:ext cx="233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Learning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6A23A62-A53B-43CB-966D-E77A23ED4BC3}"/>
              </a:ext>
            </a:extLst>
          </p:cNvPr>
          <p:cNvSpPr txBox="1"/>
          <p:nvPr/>
        </p:nvSpPr>
        <p:spPr>
          <a:xfrm>
            <a:off x="2296717" y="4508802"/>
            <a:ext cx="28722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 &amp; Parent</a:t>
            </a:r>
          </a:p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Dashboard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F8081E2-9F0F-49B6-AE24-A026CE28DEA3}"/>
              </a:ext>
            </a:extLst>
          </p:cNvPr>
          <p:cNvSpPr txBox="1"/>
          <p:nvPr/>
        </p:nvSpPr>
        <p:spPr>
          <a:xfrm>
            <a:off x="5265905" y="4626475"/>
            <a:ext cx="1366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Editor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EE07CD9-8C9D-4506-9522-A890A2CF37B9}"/>
              </a:ext>
            </a:extLst>
          </p:cNvPr>
          <p:cNvSpPr txBox="1"/>
          <p:nvPr/>
        </p:nvSpPr>
        <p:spPr>
          <a:xfrm>
            <a:off x="7871798" y="4514950"/>
            <a:ext cx="2199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388" indent="-52388"/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Commands &amp;           Audio Guidance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F4873DF1-5073-4C41-B0A8-9EAB8029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64" y="3076571"/>
            <a:ext cx="334369" cy="334369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306BA73-D342-408B-B1AE-ACCF2629A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183" y="3054958"/>
            <a:ext cx="410479" cy="410479"/>
          </a:xfrm>
          <a:prstGeom prst="rect">
            <a:avLst/>
          </a:prstGeom>
        </p:spPr>
      </p:pic>
      <p:pic>
        <p:nvPicPr>
          <p:cNvPr id="15362" name="Picture 15361">
            <a:extLst>
              <a:ext uri="{FF2B5EF4-FFF2-40B4-BE49-F238E27FC236}">
                <a16:creationId xmlns:a16="http://schemas.microsoft.com/office/drawing/2014/main" id="{1DB5460B-8C99-4C75-853E-CCD9EBC5D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9752" y="3029871"/>
            <a:ext cx="453288" cy="453288"/>
          </a:xfrm>
          <a:prstGeom prst="rect">
            <a:avLst/>
          </a:prstGeom>
        </p:spPr>
      </p:pic>
      <p:pic>
        <p:nvPicPr>
          <p:cNvPr id="15364" name="Picture 15363">
            <a:extLst>
              <a:ext uri="{FF2B5EF4-FFF2-40B4-BE49-F238E27FC236}">
                <a16:creationId xmlns:a16="http://schemas.microsoft.com/office/drawing/2014/main" id="{29176C88-895F-472D-A170-65E899AEE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546" y="2994328"/>
            <a:ext cx="470640" cy="470640"/>
          </a:xfrm>
          <a:prstGeom prst="rect">
            <a:avLst/>
          </a:prstGeom>
        </p:spPr>
      </p:pic>
      <p:pic>
        <p:nvPicPr>
          <p:cNvPr id="15366" name="Picture 15365">
            <a:extLst>
              <a:ext uri="{FF2B5EF4-FFF2-40B4-BE49-F238E27FC236}">
                <a16:creationId xmlns:a16="http://schemas.microsoft.com/office/drawing/2014/main" id="{0FC5FBBE-5323-4EA4-9153-B5B9420F8B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3711" y="4524745"/>
            <a:ext cx="453875" cy="453875"/>
          </a:xfrm>
          <a:prstGeom prst="rect">
            <a:avLst/>
          </a:prstGeom>
        </p:spPr>
      </p:pic>
      <p:pic>
        <p:nvPicPr>
          <p:cNvPr id="15368" name="Picture 15367">
            <a:extLst>
              <a:ext uri="{FF2B5EF4-FFF2-40B4-BE49-F238E27FC236}">
                <a16:creationId xmlns:a16="http://schemas.microsoft.com/office/drawing/2014/main" id="{E42DCC27-530A-4614-A56B-C37C86B960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618" y="4568722"/>
            <a:ext cx="446943" cy="446943"/>
          </a:xfrm>
          <a:prstGeom prst="rect">
            <a:avLst/>
          </a:prstGeom>
        </p:spPr>
      </p:pic>
      <p:pic>
        <p:nvPicPr>
          <p:cNvPr id="15370" name="Picture 15369">
            <a:extLst>
              <a:ext uri="{FF2B5EF4-FFF2-40B4-BE49-F238E27FC236}">
                <a16:creationId xmlns:a16="http://schemas.microsoft.com/office/drawing/2014/main" id="{EB368622-D53F-49FC-9138-D13BF92C8A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2809" y="4552023"/>
            <a:ext cx="405001" cy="405001"/>
          </a:xfrm>
          <a:prstGeom prst="rect">
            <a:avLst/>
          </a:prstGeom>
        </p:spPr>
      </p:pic>
      <p:sp>
        <p:nvSpPr>
          <p:cNvPr id="15374" name="Scroll: Vertical 15373">
            <a:extLst>
              <a:ext uri="{FF2B5EF4-FFF2-40B4-BE49-F238E27FC236}">
                <a16:creationId xmlns:a16="http://schemas.microsoft.com/office/drawing/2014/main" id="{A258A51E-D5ED-45E8-A2A6-4D22A9D19125}"/>
              </a:ext>
            </a:extLst>
          </p:cNvPr>
          <p:cNvSpPr/>
          <p:nvPr/>
        </p:nvSpPr>
        <p:spPr>
          <a:xfrm>
            <a:off x="6484902" y="1455910"/>
            <a:ext cx="2584967" cy="1373358"/>
          </a:xfrm>
          <a:prstGeom prst="verticalScroll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8E513F-06D3-4841-B42E-E0F69E1CDBB3}"/>
              </a:ext>
            </a:extLst>
          </p:cNvPr>
          <p:cNvSpPr txBox="1"/>
          <p:nvPr/>
        </p:nvSpPr>
        <p:spPr>
          <a:xfrm>
            <a:off x="6708781" y="1879311"/>
            <a:ext cx="21705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 + Multi-Language Access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Anytime, Anywhere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4D53C8E-08EC-41BE-A1CA-7AFC5D8748DF}"/>
              </a:ext>
            </a:extLst>
          </p:cNvPr>
          <p:cNvSpPr txBox="1"/>
          <p:nvPr/>
        </p:nvSpPr>
        <p:spPr>
          <a:xfrm>
            <a:off x="9929404" y="1827827"/>
            <a:ext cx="19224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and Dyslexia Friendly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Inclusive for all Learners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AF3CDA5A-41DE-41A8-9A83-F043A97888F4}"/>
              </a:ext>
            </a:extLst>
          </p:cNvPr>
          <p:cNvSpPr/>
          <p:nvPr/>
        </p:nvSpPr>
        <p:spPr>
          <a:xfrm>
            <a:off x="8751107" y="2954628"/>
            <a:ext cx="2601314" cy="1400039"/>
          </a:xfrm>
          <a:prstGeom prst="round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76" name="Picture 15375">
            <a:extLst>
              <a:ext uri="{FF2B5EF4-FFF2-40B4-BE49-F238E27FC236}">
                <a16:creationId xmlns:a16="http://schemas.microsoft.com/office/drawing/2014/main" id="{C23ABBEB-121C-4E1E-AE04-9B829AD1CD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2503" y="1771512"/>
            <a:ext cx="668196" cy="668196"/>
          </a:xfrm>
          <a:prstGeom prst="rect">
            <a:avLst/>
          </a:prstGeom>
        </p:spPr>
      </p:pic>
      <p:pic>
        <p:nvPicPr>
          <p:cNvPr id="15378" name="Picture 15377">
            <a:extLst>
              <a:ext uri="{FF2B5EF4-FFF2-40B4-BE49-F238E27FC236}">
                <a16:creationId xmlns:a16="http://schemas.microsoft.com/office/drawing/2014/main" id="{D8ECB8F0-7F50-4BCF-A72A-986474B1CF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1922" y="1487859"/>
            <a:ext cx="446663" cy="446663"/>
          </a:xfrm>
          <a:prstGeom prst="rect">
            <a:avLst/>
          </a:prstGeom>
        </p:spPr>
      </p:pic>
      <p:pic>
        <p:nvPicPr>
          <p:cNvPr id="15380" name="Picture 15379">
            <a:extLst>
              <a:ext uri="{FF2B5EF4-FFF2-40B4-BE49-F238E27FC236}">
                <a16:creationId xmlns:a16="http://schemas.microsoft.com/office/drawing/2014/main" id="{CC11B651-F2BA-4C5A-A878-60A96BBDD36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6050" y="1438326"/>
            <a:ext cx="478612" cy="4786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Oval 279">
            <a:extLst>
              <a:ext uri="{FF2B5EF4-FFF2-40B4-BE49-F238E27FC236}">
                <a16:creationId xmlns:a16="http://schemas.microsoft.com/office/drawing/2014/main" id="{9786369A-6F2F-4ED4-96C0-4AE0638B8CFA}"/>
              </a:ext>
            </a:extLst>
          </p:cNvPr>
          <p:cNvSpPr/>
          <p:nvPr/>
        </p:nvSpPr>
        <p:spPr>
          <a:xfrm>
            <a:off x="10716831" y="5003558"/>
            <a:ext cx="950172" cy="877278"/>
          </a:xfrm>
          <a:prstGeom prst="ellipse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0F1E939-CA5B-42FC-8EB2-B2AFE9A7EBC4}"/>
              </a:ext>
            </a:extLst>
          </p:cNvPr>
          <p:cNvSpPr/>
          <p:nvPr/>
        </p:nvSpPr>
        <p:spPr>
          <a:xfrm>
            <a:off x="10734416" y="1470202"/>
            <a:ext cx="905850" cy="87727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0AEBEF5-324E-4625-A315-D9B90F4EC5C3}"/>
              </a:ext>
            </a:extLst>
          </p:cNvPr>
          <p:cNvSpPr/>
          <p:nvPr/>
        </p:nvSpPr>
        <p:spPr>
          <a:xfrm>
            <a:off x="7003211" y="1533599"/>
            <a:ext cx="822965" cy="812205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C764131-C66D-4083-AE21-C0AB21D3D562}"/>
              </a:ext>
            </a:extLst>
          </p:cNvPr>
          <p:cNvCxnSpPr>
            <a:cxnSpLocks/>
          </p:cNvCxnSpPr>
          <p:nvPr/>
        </p:nvCxnSpPr>
        <p:spPr>
          <a:xfrm flipV="1">
            <a:off x="8705110" y="5410936"/>
            <a:ext cx="36576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07D4D72F-ABB1-4BCF-A341-9EA4B59D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77" y="1263719"/>
            <a:ext cx="1466323" cy="13858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9259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204" y="-17584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80795" y="922164"/>
            <a:ext cx="3802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(Web + Mobile)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7627F1F-4532-236E-0F57-7D2B34856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382700"/>
              </p:ext>
            </p:extLst>
          </p:nvPr>
        </p:nvGraphicFramePr>
        <p:xfrm>
          <a:off x="243499" y="1347944"/>
          <a:ext cx="6362002" cy="4171868"/>
        </p:xfrm>
        <a:graphic>
          <a:graphicData uri="http://schemas.openxmlformats.org/drawingml/2006/table">
            <a:tbl>
              <a:tblPr/>
              <a:tblGrid>
                <a:gridCol w="1453916">
                  <a:extLst>
                    <a:ext uri="{9D8B030D-6E8A-4147-A177-3AD203B41FA5}">
                      <a16:colId xmlns:a16="http://schemas.microsoft.com/office/drawing/2014/main" val="3622786290"/>
                    </a:ext>
                  </a:extLst>
                </a:gridCol>
                <a:gridCol w="2454043">
                  <a:extLst>
                    <a:ext uri="{9D8B030D-6E8A-4147-A177-3AD203B41FA5}">
                      <a16:colId xmlns:a16="http://schemas.microsoft.com/office/drawing/2014/main" val="2781280784"/>
                    </a:ext>
                  </a:extLst>
                </a:gridCol>
                <a:gridCol w="2454043">
                  <a:extLst>
                    <a:ext uri="{9D8B030D-6E8A-4147-A177-3AD203B41FA5}">
                      <a16:colId xmlns:a16="http://schemas.microsoft.com/office/drawing/2014/main" val="988948188"/>
                    </a:ext>
                  </a:extLst>
                </a:gridCol>
              </a:tblGrid>
              <a:tr h="24540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</a:t>
                      </a:r>
                      <a:endParaRPr lang="en-IN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067606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App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Flutter (Dart)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Cross-platform app with offline &amp; multi-language support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65307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App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Next.js (React) + Tailwind CSS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Responsive interface for students, teachers, parents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53593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 + Django REST Framework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APIs for </a:t>
                      </a:r>
                      <a:r>
                        <a:rPr lang="fr-F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users</a:t>
                      </a:r>
                      <a:r>
                        <a:rPr lang="fr-F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content, </a:t>
                      </a:r>
                      <a:r>
                        <a:rPr lang="fr-F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quizzes</a:t>
                      </a:r>
                      <a:r>
                        <a:rPr lang="fr-F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fr-F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attendance</a:t>
                      </a:r>
                      <a:endParaRPr lang="fr-F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530935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(Online)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Firebase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Firestore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data sync, progress,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leaderboards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679381"/>
                  </a:ext>
                </a:extLst>
              </a:tr>
              <a:tr h="24540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(Offline)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SQLite (mobile), IndexedDB (web)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storage &amp; offline access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818149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Tutor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ML + TensorFlow / Gemini AI API + Grok AI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Personalized learning, career &amp; interview guidance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321842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&amp; Accessibility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TTS + STT (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Vosk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Whisper, Google)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</a:t>
                      </a:r>
                      <a:r>
                        <a:rPr lang="fr-F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commands</a:t>
                      </a:r>
                      <a:r>
                        <a:rPr lang="fr-F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audio mode, </a:t>
                      </a:r>
                      <a:r>
                        <a:rPr lang="fr-F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inclusivity</a:t>
                      </a:r>
                      <a:endParaRPr lang="fr-F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539928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Peer Learning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Bluetooth / WiFi Hotspot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Offline content sharing between devices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11057"/>
                  </a:ext>
                </a:extLst>
              </a:tr>
              <a:tr h="4294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Community Mode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storage + Hotspot Sync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Emergency updates &amp; village notice board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704168"/>
                  </a:ext>
                </a:extLst>
              </a:tr>
              <a:tr h="24540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Storage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Firebase Storage /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Cloudinary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 PDFs, notes, videos, media</a:t>
                      </a:r>
                    </a:p>
                  </a:txBody>
                  <a:tcPr marL="61351" marR="61351" marT="30676" marB="306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61838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FC1DBBC8-41B4-4F76-A751-869F2CC18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38" y="5786982"/>
            <a:ext cx="491607" cy="4916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48D392-1BB7-42F6-84F4-251D838C2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924" y="5771505"/>
            <a:ext cx="508254" cy="5082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C4C445-8E84-4E2F-8E36-B1E562107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3415" y="5699196"/>
            <a:ext cx="656062" cy="6560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D62478F-E80E-4D8E-AC4B-BC1DF7A17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6839" y="5800285"/>
            <a:ext cx="525382" cy="52538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9B8328-9C88-47E9-8D97-F019D797B8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3114" y="5807439"/>
            <a:ext cx="503238" cy="5032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71DCB98-C8FA-46AE-949F-635B93E394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959" y="5773757"/>
            <a:ext cx="503238" cy="5032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BF48986-1711-468A-8693-20AACFC955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6107" y="5690593"/>
            <a:ext cx="656063" cy="65606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CF8223B-9695-405F-BC23-713C95027B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4990" y="5807439"/>
            <a:ext cx="476825" cy="452308"/>
          </a:xfrm>
          <a:prstGeom prst="rect">
            <a:avLst/>
          </a:prstGeom>
        </p:spPr>
      </p:pic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5EA78AB6-CA10-4429-BBB8-E60C723359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87077"/>
            <a:ext cx="13575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IQ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0B202-6AA0-4C9D-B961-8A08E95103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4152" y="1597755"/>
            <a:ext cx="644805" cy="6448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41EE9F-F57B-4F3A-AE28-85E232E28CA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5383" y="1562684"/>
            <a:ext cx="774887" cy="77488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730CA12-D146-4FB5-8C40-C497A6277B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36939" y="1695999"/>
            <a:ext cx="484779" cy="484779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A4EA64B7-DC74-4B6B-8696-9225F797B5E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3200" y="5005116"/>
            <a:ext cx="822965" cy="822965"/>
          </a:xfrm>
          <a:prstGeom prst="rect">
            <a:avLst/>
          </a:prstGeom>
        </p:spPr>
      </p:pic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12DC9CC-BCF6-4EFB-BB46-93952346905B}"/>
              </a:ext>
            </a:extLst>
          </p:cNvPr>
          <p:cNvSpPr/>
          <p:nvPr/>
        </p:nvSpPr>
        <p:spPr>
          <a:xfrm>
            <a:off x="6736240" y="4981218"/>
            <a:ext cx="1278307" cy="879362"/>
          </a:xfrm>
          <a:prstGeom prst="roundRect">
            <a:avLst/>
          </a:prstGeom>
          <a:noFill/>
          <a:ln>
            <a:solidFill>
              <a:srgbClr val="00682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AD1A8FD-D5B8-4323-8C79-1C442508B55E}"/>
              </a:ext>
            </a:extLst>
          </p:cNvPr>
          <p:cNvCxnSpPr>
            <a:cxnSpLocks/>
          </p:cNvCxnSpPr>
          <p:nvPr/>
        </p:nvCxnSpPr>
        <p:spPr>
          <a:xfrm flipH="1">
            <a:off x="7696862" y="3616367"/>
            <a:ext cx="100584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3CF1687-DCEA-40F8-AA01-8762F61D9C0C}"/>
              </a:ext>
            </a:extLst>
          </p:cNvPr>
          <p:cNvSpPr/>
          <p:nvPr/>
        </p:nvSpPr>
        <p:spPr>
          <a:xfrm>
            <a:off x="6850533" y="1171956"/>
            <a:ext cx="1127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Student Side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A2CAF59-5729-4946-AD8D-04E65413728E}"/>
              </a:ext>
            </a:extLst>
          </p:cNvPr>
          <p:cNvSpPr/>
          <p:nvPr/>
        </p:nvSpPr>
        <p:spPr>
          <a:xfrm>
            <a:off x="6732973" y="2375589"/>
            <a:ext cx="14746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Student Interface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9DB128B-F485-4B24-8A40-45C845341204}"/>
              </a:ext>
            </a:extLst>
          </p:cNvPr>
          <p:cNvSpPr/>
          <p:nvPr/>
        </p:nvSpPr>
        <p:spPr>
          <a:xfrm>
            <a:off x="10380601" y="2328632"/>
            <a:ext cx="16096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Teacher Dashboard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F8DF0E6-A41C-4AFC-B2EF-86D3D93D6104}"/>
              </a:ext>
            </a:extLst>
          </p:cNvPr>
          <p:cNvSpPr/>
          <p:nvPr/>
        </p:nvSpPr>
        <p:spPr>
          <a:xfrm>
            <a:off x="10318631" y="4024180"/>
            <a:ext cx="19437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   Report &amp; Analytics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E75437A-5F2D-40B5-A559-ED0BCB32A2D4}"/>
              </a:ext>
            </a:extLst>
          </p:cNvPr>
          <p:cNvSpPr/>
          <p:nvPr/>
        </p:nvSpPr>
        <p:spPr>
          <a:xfrm>
            <a:off x="10520323" y="5886474"/>
            <a:ext cx="152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Parent Dashboard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0FAA42E-6E8B-4F51-9358-D8B007C04561}"/>
              </a:ext>
            </a:extLst>
          </p:cNvPr>
          <p:cNvSpPr/>
          <p:nvPr/>
        </p:nvSpPr>
        <p:spPr>
          <a:xfrm>
            <a:off x="8301308" y="5644751"/>
            <a:ext cx="5235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Sync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6CB12BF-6778-4EE2-8B59-E3ECA2FA4B90}"/>
              </a:ext>
            </a:extLst>
          </p:cNvPr>
          <p:cNvSpPr/>
          <p:nvPr/>
        </p:nvSpPr>
        <p:spPr>
          <a:xfrm>
            <a:off x="6886989" y="5887458"/>
            <a:ext cx="11666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Local Storage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D134F93-E525-4870-8F07-457EF5EE6CC4}"/>
              </a:ext>
            </a:extLst>
          </p:cNvPr>
          <p:cNvSpPr/>
          <p:nvPr/>
        </p:nvSpPr>
        <p:spPr>
          <a:xfrm>
            <a:off x="6688282" y="4024304"/>
            <a:ext cx="1414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Offline Learning </a:t>
            </a:r>
            <a:br>
              <a:rPr lang="en-US" sz="1400" b="1" dirty="0"/>
            </a:br>
            <a:r>
              <a:rPr lang="en-US" sz="1400" b="1" dirty="0"/>
              <a:t>       Module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4C8E372-174D-48F8-98BA-8BEE7CA322D1}"/>
              </a:ext>
            </a:extLst>
          </p:cNvPr>
          <p:cNvSpPr/>
          <p:nvPr/>
        </p:nvSpPr>
        <p:spPr>
          <a:xfrm>
            <a:off x="8679798" y="2667465"/>
            <a:ext cx="13360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  Cloud Storage 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8065597-C5DF-44B0-BEEB-016EEAD59500}"/>
              </a:ext>
            </a:extLst>
          </p:cNvPr>
          <p:cNvSpPr/>
          <p:nvPr/>
        </p:nvSpPr>
        <p:spPr>
          <a:xfrm>
            <a:off x="10602466" y="1160480"/>
            <a:ext cx="11165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Teacher Side</a:t>
            </a: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5E5A09BE-322B-495F-A1A5-F068E100B25E}"/>
              </a:ext>
            </a:extLst>
          </p:cNvPr>
          <p:cNvSpPr/>
          <p:nvPr/>
        </p:nvSpPr>
        <p:spPr>
          <a:xfrm>
            <a:off x="10715538" y="3144334"/>
            <a:ext cx="950172" cy="87727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A72E998A-D6F7-4D2E-B311-4840713600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1864" y="5067933"/>
            <a:ext cx="686642" cy="686642"/>
          </a:xfrm>
          <a:prstGeom prst="rect">
            <a:avLst/>
          </a:prstGeom>
        </p:spPr>
      </p:pic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CB3DBFAC-C294-45B2-89FD-E225FEB5A49C}"/>
              </a:ext>
            </a:extLst>
          </p:cNvPr>
          <p:cNvCxnSpPr>
            <a:cxnSpLocks/>
          </p:cNvCxnSpPr>
          <p:nvPr/>
        </p:nvCxnSpPr>
        <p:spPr>
          <a:xfrm flipH="1" flipV="1">
            <a:off x="11160256" y="4299825"/>
            <a:ext cx="3106" cy="4572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01E23EE-ABB8-44BD-A940-6F1FB4414500}"/>
              </a:ext>
            </a:extLst>
          </p:cNvPr>
          <p:cNvSpPr/>
          <p:nvPr/>
        </p:nvSpPr>
        <p:spPr>
          <a:xfrm>
            <a:off x="9081980" y="5818312"/>
            <a:ext cx="8129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Backend</a:t>
            </a: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FD2D94F0-23E1-4D39-AA78-D792093C986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22823" y="3294314"/>
            <a:ext cx="594513" cy="594513"/>
          </a:xfrm>
          <a:prstGeom prst="rect">
            <a:avLst/>
          </a:prstGeom>
        </p:spPr>
      </p:pic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8501221D-5249-498D-9529-08C1C15CEFC4}"/>
              </a:ext>
            </a:extLst>
          </p:cNvPr>
          <p:cNvCxnSpPr>
            <a:cxnSpLocks/>
          </p:cNvCxnSpPr>
          <p:nvPr/>
        </p:nvCxnSpPr>
        <p:spPr>
          <a:xfrm flipH="1">
            <a:off x="7306956" y="4524423"/>
            <a:ext cx="3106" cy="36576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AD8BF804-7234-4B56-8E33-A9C6B46A9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47" y="2923447"/>
            <a:ext cx="1466323" cy="138584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77D3896-13CC-4D70-B724-F5E94C5C66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9938" y="3222412"/>
            <a:ext cx="774887" cy="77488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8892D8-799C-4212-A727-DCFF227229A7}"/>
              </a:ext>
            </a:extLst>
          </p:cNvPr>
          <p:cNvCxnSpPr>
            <a:cxnSpLocks/>
          </p:cNvCxnSpPr>
          <p:nvPr/>
        </p:nvCxnSpPr>
        <p:spPr>
          <a:xfrm>
            <a:off x="7826175" y="1899283"/>
            <a:ext cx="82296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F26BE0E-3BBE-48C3-9CED-08A47740421E}"/>
              </a:ext>
            </a:extLst>
          </p:cNvPr>
          <p:cNvSpPr/>
          <p:nvPr/>
        </p:nvSpPr>
        <p:spPr>
          <a:xfrm>
            <a:off x="10682592" y="4743410"/>
            <a:ext cx="10302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Parent Side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F6C12A8-7FA2-4897-B552-0C139822A170}"/>
              </a:ext>
            </a:extLst>
          </p:cNvPr>
          <p:cNvCxnSpPr>
            <a:cxnSpLocks/>
          </p:cNvCxnSpPr>
          <p:nvPr/>
        </p:nvCxnSpPr>
        <p:spPr>
          <a:xfrm flipH="1">
            <a:off x="11163362" y="2580352"/>
            <a:ext cx="3106" cy="54864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2B0BE85-BC3D-46D0-A533-79CD21D9BE48}"/>
              </a:ext>
            </a:extLst>
          </p:cNvPr>
          <p:cNvCxnSpPr>
            <a:cxnSpLocks/>
          </p:cNvCxnSpPr>
          <p:nvPr/>
        </p:nvCxnSpPr>
        <p:spPr>
          <a:xfrm flipH="1" flipV="1">
            <a:off x="8013236" y="5416598"/>
            <a:ext cx="36576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6ECE196D-CAF7-4BCA-8619-F83E0E4EF7F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20950" y="5170010"/>
            <a:ext cx="481853" cy="4818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09FC76-141D-4C1D-8D43-37D72C4D80E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90949" y="3180111"/>
            <a:ext cx="805913" cy="8059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F2400D-F711-495E-B0B1-A5F15CD7FCE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93478" y="5156380"/>
            <a:ext cx="523541" cy="523541"/>
          </a:xfrm>
          <a:prstGeom prst="rect">
            <a:avLst/>
          </a:prstGeom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D68E8EA-0CCA-4D83-9686-7833483649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40593" y="4441723"/>
            <a:ext cx="860722" cy="666191"/>
          </a:xfrm>
          <a:prstGeom prst="curved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C4D0ECF5-4D90-4C6E-BEB4-800936309EA0}"/>
              </a:ext>
            </a:extLst>
          </p:cNvPr>
          <p:cNvSpPr/>
          <p:nvPr/>
        </p:nvSpPr>
        <p:spPr>
          <a:xfrm>
            <a:off x="9793996" y="5249265"/>
            <a:ext cx="862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 Backend</a:t>
            </a:r>
          </a:p>
          <a:p>
            <a:r>
              <a:rPr lang="en-US" sz="1400" b="1" dirty="0"/>
              <a:t> API + DB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3BDD489-25CE-4B3E-A721-28AFBC260D66}"/>
              </a:ext>
            </a:extLst>
          </p:cNvPr>
          <p:cNvSpPr/>
          <p:nvPr/>
        </p:nvSpPr>
        <p:spPr>
          <a:xfrm>
            <a:off x="8838741" y="6093208"/>
            <a:ext cx="1475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Data Flow &amp; Sync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9AC76762-262B-4B2E-A379-6F1A3E27D81C}"/>
              </a:ext>
            </a:extLst>
          </p:cNvPr>
          <p:cNvCxnSpPr>
            <a:stCxn id="77" idx="1"/>
          </p:cNvCxnSpPr>
          <p:nvPr/>
        </p:nvCxnSpPr>
        <p:spPr>
          <a:xfrm rot="10800000">
            <a:off x="8720015" y="5887459"/>
            <a:ext cx="118726" cy="359639"/>
          </a:xfrm>
          <a:prstGeom prst="curved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CCBBCDEE-FF20-4E95-A4AC-BAF1E3FFFC75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243980" y="5893986"/>
            <a:ext cx="118726" cy="365760"/>
          </a:xfrm>
          <a:prstGeom prst="curved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A3766EDC-BC5C-4A00-8620-AD7937A8C352}"/>
              </a:ext>
            </a:extLst>
          </p:cNvPr>
          <p:cNvCxnSpPr>
            <a:cxnSpLocks/>
          </p:cNvCxnSpPr>
          <p:nvPr/>
        </p:nvCxnSpPr>
        <p:spPr>
          <a:xfrm rot="5400000">
            <a:off x="8649758" y="4368375"/>
            <a:ext cx="704796" cy="695996"/>
          </a:xfrm>
          <a:prstGeom prst="curved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4C039C-FC36-40E7-8BA2-ECF0C02C9BCC}"/>
              </a:ext>
            </a:extLst>
          </p:cNvPr>
          <p:cNvCxnSpPr>
            <a:cxnSpLocks/>
            <a:stCxn id="53" idx="3"/>
            <a:endCxn id="254" idx="2"/>
          </p:cNvCxnSpPr>
          <p:nvPr/>
        </p:nvCxnSpPr>
        <p:spPr>
          <a:xfrm flipV="1">
            <a:off x="10095170" y="3582973"/>
            <a:ext cx="548640" cy="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3FFB704-5B9F-4E91-A7F6-FD7D33D9D0B6}"/>
              </a:ext>
            </a:extLst>
          </p:cNvPr>
          <p:cNvCxnSpPr>
            <a:cxnSpLocks/>
          </p:cNvCxnSpPr>
          <p:nvPr/>
        </p:nvCxnSpPr>
        <p:spPr>
          <a:xfrm>
            <a:off x="9934490" y="1916868"/>
            <a:ext cx="764756" cy="9558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E22A58A-3E0E-4814-B070-9E94C9DDEDFE}"/>
              </a:ext>
            </a:extLst>
          </p:cNvPr>
          <p:cNvSpPr/>
          <p:nvPr/>
        </p:nvSpPr>
        <p:spPr>
          <a:xfrm>
            <a:off x="6512184" y="1153412"/>
            <a:ext cx="5440031" cy="187164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2229B82-7FF7-4380-BFA5-38C6FCB82A14}"/>
              </a:ext>
            </a:extLst>
          </p:cNvPr>
          <p:cNvSpPr/>
          <p:nvPr/>
        </p:nvSpPr>
        <p:spPr>
          <a:xfrm>
            <a:off x="66616" y="4676573"/>
            <a:ext cx="5303902" cy="16159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40EF78-D0E1-455A-99C5-D29FF3D7D55C}"/>
              </a:ext>
            </a:extLst>
          </p:cNvPr>
          <p:cNvSpPr/>
          <p:nvPr/>
        </p:nvSpPr>
        <p:spPr>
          <a:xfrm>
            <a:off x="68523" y="2826498"/>
            <a:ext cx="5311988" cy="17786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A3EEE2-4EA1-4F02-AD55-2C914ADD6285}"/>
              </a:ext>
            </a:extLst>
          </p:cNvPr>
          <p:cNvSpPr/>
          <p:nvPr/>
        </p:nvSpPr>
        <p:spPr>
          <a:xfrm>
            <a:off x="76609" y="897780"/>
            <a:ext cx="5303902" cy="18716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C41F21-C9E4-432A-AD57-EFE609E12066}"/>
              </a:ext>
            </a:extLst>
          </p:cNvPr>
          <p:cNvSpPr/>
          <p:nvPr/>
        </p:nvSpPr>
        <p:spPr>
          <a:xfrm>
            <a:off x="6550433" y="3203909"/>
            <a:ext cx="5500052" cy="3046249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1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3B7B30-765D-31AB-13A6-B445A484A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00" y="1472725"/>
            <a:ext cx="5125121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5425" indent="-225425" defTabSz="914400" eaLnBrk="0" hangingPunct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Works on low-cost smartphones and tablets.</a:t>
            </a:r>
          </a:p>
          <a:p>
            <a:pPr marL="225425" indent="-225425" defTabSz="914400" eaLnBrk="0" hangingPunct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Can be used </a:t>
            </a:r>
            <a:r>
              <a:rPr lang="en-US" altLang="en-US" sz="1400" b="1" dirty="0">
                <a:latin typeface="Arial" panose="020B0604020202020204" pitchFamily="34" charset="0"/>
              </a:rPr>
              <a:t>without internet</a:t>
            </a:r>
            <a:r>
              <a:rPr lang="en-US" altLang="en-US" sz="1400" dirty="0">
                <a:latin typeface="Arial" panose="020B0604020202020204" pitchFamily="34" charset="0"/>
              </a:rPr>
              <a:t> and syncs later when online.</a:t>
            </a:r>
          </a:p>
          <a:p>
            <a:pPr marL="225425" indent="-225425" defTabSz="914400" eaLnBrk="0" hangingPunct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Easy to use for students, teachers, and parents.</a:t>
            </a:r>
          </a:p>
          <a:p>
            <a:pPr marL="225425" indent="-225425" defTabSz="914400" eaLnBrk="0" hangingPunct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latin typeface="Arial" panose="020B0604020202020204" pitchFamily="34" charset="0"/>
              </a:rPr>
              <a:t>Built on reliable and widely used technologies.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A306B-54D3-3BA6-400A-0168751DE410}"/>
              </a:ext>
            </a:extLst>
          </p:cNvPr>
          <p:cNvSpPr txBox="1"/>
          <p:nvPr/>
        </p:nvSpPr>
        <p:spPr>
          <a:xfrm>
            <a:off x="641138" y="1080079"/>
            <a:ext cx="2311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Feasibility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DF580-E93D-97E2-F7A5-30676EB92E07}"/>
              </a:ext>
            </a:extLst>
          </p:cNvPr>
          <p:cNvSpPr txBox="1"/>
          <p:nvPr/>
        </p:nvSpPr>
        <p:spPr>
          <a:xfrm>
            <a:off x="274856" y="3183742"/>
            <a:ext cx="609845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IN" sz="1400" dirty="0">
                <a:latin typeface="Arial" panose="020B0604020202020204" pitchFamily="34" charset="0"/>
              </a:rPr>
              <a:t>Low setup and running cost for schools.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IN" sz="1400" dirty="0">
                <a:latin typeface="Arial" panose="020B0604020202020204" pitchFamily="34" charset="0"/>
              </a:rPr>
              <a:t>Fits rural areas where internet and devices are limited.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IN" sz="1400" dirty="0">
                <a:latin typeface="Arial" panose="020B0604020202020204" pitchFamily="34" charset="0"/>
              </a:rPr>
              <a:t>Can scale to more schools and regions in the future.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latin typeface="Arial" panose="020B0604020202020204" pitchFamily="34" charset="0"/>
              </a:rPr>
              <a:t>Parents and teachers need very little training.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Arial" panose="020B0604020202020204" pitchFamily="34" charset="0"/>
            </a:endParaRP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endParaRPr lang="en-IN" sz="14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8DE53A-15E2-7E57-9494-E2041EC7FE1E}"/>
              </a:ext>
            </a:extLst>
          </p:cNvPr>
          <p:cNvSpPr txBox="1"/>
          <p:nvPr/>
        </p:nvSpPr>
        <p:spPr>
          <a:xfrm>
            <a:off x="651661" y="2910105"/>
            <a:ext cx="609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Viability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8C5CB-F8EF-0254-71FC-B96E37B7E0B1}"/>
              </a:ext>
            </a:extLst>
          </p:cNvPr>
          <p:cNvSpPr txBox="1"/>
          <p:nvPr/>
        </p:nvSpPr>
        <p:spPr>
          <a:xfrm>
            <a:off x="635213" y="4729329"/>
            <a:ext cx="609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Challenges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3C7CE7D-7749-4C06-C0F6-394BBD68F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03" y="5017839"/>
            <a:ext cx="4213013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Some students may not have their own devices.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Parents might struggle to use apps.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Power outages and weak internet in rural areas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latin typeface="Arial" panose="020B0604020202020204" pitchFamily="34" charset="0"/>
              </a:rPr>
              <a:t>Keeping students interested for long-term use.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460F4F-ECBF-2175-555F-324163FE9662}"/>
              </a:ext>
            </a:extLst>
          </p:cNvPr>
          <p:cNvSpPr txBox="1"/>
          <p:nvPr/>
        </p:nvSpPr>
        <p:spPr>
          <a:xfrm>
            <a:off x="6958465" y="1289317"/>
            <a:ext cx="7167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Solutions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73043C-E2FE-FB46-8A39-F437C787D16D}"/>
              </a:ext>
            </a:extLst>
          </p:cNvPr>
          <p:cNvSpPr txBox="1"/>
          <p:nvPr/>
        </p:nvSpPr>
        <p:spPr>
          <a:xfrm>
            <a:off x="6619615" y="1626221"/>
            <a:ext cx="542052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IN" sz="1400" dirty="0">
                <a:latin typeface="Arial" panose="020B0604020202020204" pitchFamily="34" charset="0"/>
              </a:rPr>
              <a:t>Provide shared devices at schools or community </a:t>
            </a:r>
            <a:r>
              <a:rPr lang="en-IN" sz="1400" dirty="0" err="1">
                <a:latin typeface="Arial" panose="020B0604020202020204" pitchFamily="34" charset="0"/>
              </a:rPr>
              <a:t>centers</a:t>
            </a:r>
            <a:r>
              <a:rPr lang="en-IN" sz="1400" dirty="0">
                <a:latin typeface="Arial" panose="020B0604020202020204" pitchFamily="34" charset="0"/>
              </a:rPr>
              <a:t>.</a:t>
            </a:r>
          </a:p>
          <a:p>
            <a:pPr marL="225425" indent="-225425" defTabSz="914400" eaLnBrk="0" hangingPunct="0">
              <a:spcAft>
                <a:spcPts val="600"/>
              </a:spcAft>
              <a:buFont typeface="+mj-lt"/>
              <a:buAutoNum type="arabicPeriod"/>
            </a:pPr>
            <a:r>
              <a:rPr lang="en-IN" sz="1400" dirty="0">
                <a:latin typeface="Arial" panose="020B0604020202020204" pitchFamily="34" charset="0"/>
              </a:rPr>
              <a:t>Conduct easy-to-follow training sessions for parents.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IN" sz="1400" dirty="0">
                <a:latin typeface="Arial" panose="020B0604020202020204" pitchFamily="34" charset="0"/>
              </a:rPr>
              <a:t>3.  Include fun, reward-based learning to keep students engaged.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IN" sz="1400" dirty="0">
                <a:latin typeface="Arial" panose="020B0604020202020204" pitchFamily="34" charset="0"/>
              </a:rPr>
              <a:t>4.  </a:t>
            </a:r>
            <a:r>
              <a:rPr lang="en-US" sz="1400" dirty="0">
                <a:latin typeface="Arial" panose="020B0604020202020204" pitchFamily="34" charset="0"/>
              </a:rPr>
              <a:t>Make the app fully usable offline.</a:t>
            </a:r>
            <a:endParaRPr lang="en-IN" sz="1400" dirty="0"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97775D-D65B-17C5-7A1B-CA38EA4E8C88}"/>
              </a:ext>
            </a:extLst>
          </p:cNvPr>
          <p:cNvSpPr txBox="1"/>
          <p:nvPr/>
        </p:nvSpPr>
        <p:spPr>
          <a:xfrm>
            <a:off x="7039440" y="3337198"/>
            <a:ext cx="46858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  Supporting Facts for Feasibility and Viability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85C2BE-16A7-1105-4DF1-A1652CAAA2C3}"/>
              </a:ext>
            </a:extLst>
          </p:cNvPr>
          <p:cNvSpPr txBox="1"/>
          <p:nvPr/>
        </p:nvSpPr>
        <p:spPr>
          <a:xfrm>
            <a:off x="6857002" y="3846677"/>
            <a:ext cx="50909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Offline-first apps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 students continue learning and improve retention by up to 70%, even in areas with poor internet like rural Nabha.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93810D-2104-400A-BA13-3596481DA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91" y="988416"/>
            <a:ext cx="376411" cy="4504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88C413-666C-428E-99AA-2A434FDBA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94" y="2835142"/>
            <a:ext cx="527926" cy="4504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1D624C-4B46-4DDB-8FE9-EC064522A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76" y="4638896"/>
            <a:ext cx="412450" cy="3707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9A961D7-FFF7-4085-AD9B-7E30A46EF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507" y="1193067"/>
            <a:ext cx="429019" cy="42901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296214-904F-4E72-B98E-CA8609021C20}"/>
              </a:ext>
            </a:extLst>
          </p:cNvPr>
          <p:cNvCxnSpPr>
            <a:cxnSpLocks/>
          </p:cNvCxnSpPr>
          <p:nvPr/>
        </p:nvCxnSpPr>
        <p:spPr>
          <a:xfrm>
            <a:off x="6705736" y="4035237"/>
            <a:ext cx="18288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1F1243-B9D9-4CAB-BFE7-CE583F22382C}"/>
              </a:ext>
            </a:extLst>
          </p:cNvPr>
          <p:cNvCxnSpPr>
            <a:cxnSpLocks/>
          </p:cNvCxnSpPr>
          <p:nvPr/>
        </p:nvCxnSpPr>
        <p:spPr>
          <a:xfrm>
            <a:off x="6723577" y="5374148"/>
            <a:ext cx="18288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">
            <a:extLst>
              <a:ext uri="{FF2B5EF4-FFF2-40B4-BE49-F238E27FC236}">
                <a16:creationId xmlns:a16="http://schemas.microsoft.com/office/drawing/2014/main" id="{E421DDF7-742E-4136-92C0-951DD8365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674" y="5200562"/>
            <a:ext cx="504387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platforms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 rural students better access to quality learning, reduce the rural-urban gap, and build future digital skills.</a:t>
            </a:r>
            <a:endParaRPr lang="en-US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F7F11D-FF23-427B-B677-4AA171868E39}"/>
              </a:ext>
            </a:extLst>
          </p:cNvPr>
          <p:cNvCxnSpPr/>
          <p:nvPr/>
        </p:nvCxnSpPr>
        <p:spPr>
          <a:xfrm>
            <a:off x="6837959" y="3705892"/>
            <a:ext cx="4937760" cy="14869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B2B97A8F-0851-4B6A-BD15-03E37594C80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6858020" y="3390640"/>
            <a:ext cx="251929" cy="25192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98AF195-E16B-4F01-8BD2-DED205C8D8D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11483076" y="3387317"/>
            <a:ext cx="251929" cy="251929"/>
          </a:xfrm>
          <a:prstGeom prst="rect">
            <a:avLst/>
          </a:prstGeom>
        </p:spPr>
      </p:pic>
      <p:sp>
        <p:nvSpPr>
          <p:cNvPr id="60" name="Oval 59" descr="Your startup LOGO">
            <a:extLst>
              <a:ext uri="{FF2B5EF4-FFF2-40B4-BE49-F238E27FC236}">
                <a16:creationId xmlns:a16="http://schemas.microsoft.com/office/drawing/2014/main" id="{91179C3D-B5C6-4A02-9FE2-FEAEEB9102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87077"/>
            <a:ext cx="13575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IQ</a:t>
            </a:r>
            <a:endParaRPr lang="en-IN" dirty="0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2767B282-DA43-4525-B781-C5B569AD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173" y="4587550"/>
            <a:ext cx="50438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Easy-to-use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in local languages helps students and teachers use the platform comfortably and regularly.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46DF838-1312-4EAA-964F-2DA22A92D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4923" y="2990046"/>
            <a:ext cx="931749" cy="931749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2FEECE0-3311-4C22-B4E5-A7DE158353FD}"/>
              </a:ext>
            </a:extLst>
          </p:cNvPr>
          <p:cNvCxnSpPr>
            <a:cxnSpLocks/>
          </p:cNvCxnSpPr>
          <p:nvPr/>
        </p:nvCxnSpPr>
        <p:spPr>
          <a:xfrm>
            <a:off x="6703152" y="4761074"/>
            <a:ext cx="18288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A990C190-73AD-4428-93AE-6B2E87E22496}"/>
              </a:ext>
            </a:extLst>
          </p:cNvPr>
          <p:cNvSpPr/>
          <p:nvPr/>
        </p:nvSpPr>
        <p:spPr>
          <a:xfrm rot="3035701">
            <a:off x="5174608" y="2065277"/>
            <a:ext cx="1075268" cy="979131"/>
          </a:xfrm>
          <a:prstGeom prst="circularArrow">
            <a:avLst/>
          </a:prstGeom>
          <a:gradFill>
            <a:gsLst>
              <a:gs pos="26000">
                <a:srgbClr val="002060"/>
              </a:gs>
              <a:gs pos="70500">
                <a:srgbClr val="002060"/>
              </a:gs>
              <a:gs pos="91000">
                <a:srgbClr val="002060"/>
              </a:gs>
              <a:gs pos="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F379A45A-4BA2-4C88-8BA8-64666004D516}"/>
              </a:ext>
            </a:extLst>
          </p:cNvPr>
          <p:cNvSpPr/>
          <p:nvPr/>
        </p:nvSpPr>
        <p:spPr>
          <a:xfrm rot="13538368" flipH="1">
            <a:off x="5590791" y="3771650"/>
            <a:ext cx="1005840" cy="1021067"/>
          </a:xfrm>
          <a:prstGeom prst="circularArrow">
            <a:avLst/>
          </a:prstGeom>
          <a:gradFill>
            <a:gsLst>
              <a:gs pos="26000">
                <a:srgbClr val="002060">
                  <a:lumMod val="99000"/>
                </a:srgbClr>
              </a:gs>
              <a:gs pos="70500">
                <a:srgbClr val="002060"/>
              </a:gs>
              <a:gs pos="91000">
                <a:srgbClr val="002060"/>
              </a:gs>
              <a:gs pos="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DFF0E9AC-4488-4A52-AA80-5E67D7D7C850}"/>
              </a:ext>
            </a:extLst>
          </p:cNvPr>
          <p:cNvSpPr/>
          <p:nvPr/>
        </p:nvSpPr>
        <p:spPr>
          <a:xfrm>
            <a:off x="6746754" y="4794152"/>
            <a:ext cx="5318848" cy="1499382"/>
          </a:xfrm>
          <a:prstGeom prst="rect">
            <a:avLst/>
          </a:prstGeom>
          <a:solidFill>
            <a:srgbClr val="F5E4E3"/>
          </a:solidFill>
          <a:ln w="63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1EBE1F7-5AC5-40C9-95E9-22CCA9F959F8}"/>
              </a:ext>
            </a:extLst>
          </p:cNvPr>
          <p:cNvSpPr/>
          <p:nvPr/>
        </p:nvSpPr>
        <p:spPr>
          <a:xfrm>
            <a:off x="6725426" y="1210463"/>
            <a:ext cx="5318848" cy="1122868"/>
          </a:xfrm>
          <a:prstGeom prst="rect">
            <a:avLst/>
          </a:prstGeom>
          <a:solidFill>
            <a:srgbClr val="FDEFE3"/>
          </a:solidFill>
          <a:ln w="63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A1BDD1E-86EF-4F81-B1DE-42308D7574A2}"/>
              </a:ext>
            </a:extLst>
          </p:cNvPr>
          <p:cNvSpPr/>
          <p:nvPr/>
        </p:nvSpPr>
        <p:spPr>
          <a:xfrm>
            <a:off x="6731638" y="3488728"/>
            <a:ext cx="5318848" cy="1245464"/>
          </a:xfrm>
          <a:prstGeom prst="rect">
            <a:avLst/>
          </a:prstGeom>
          <a:solidFill>
            <a:srgbClr val="DDE9F7"/>
          </a:solidFill>
          <a:ln w="63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BD3BE0-F1FF-4D47-8535-E15E40A56292}"/>
              </a:ext>
            </a:extLst>
          </p:cNvPr>
          <p:cNvSpPr/>
          <p:nvPr/>
        </p:nvSpPr>
        <p:spPr>
          <a:xfrm>
            <a:off x="6731637" y="2410200"/>
            <a:ext cx="5318848" cy="1005368"/>
          </a:xfrm>
          <a:prstGeom prst="rect">
            <a:avLst/>
          </a:prstGeom>
          <a:solidFill>
            <a:srgbClr val="EEEAF2"/>
          </a:solidFill>
          <a:ln w="63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94B27AC-0B36-4D42-94D2-D4AFA524741B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4001016" y="4086749"/>
            <a:ext cx="553500" cy="23042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1FA3C326-BE0C-4C01-88CF-7A8398687BFD}"/>
              </a:ext>
            </a:extLst>
          </p:cNvPr>
          <p:cNvSpPr/>
          <p:nvPr/>
        </p:nvSpPr>
        <p:spPr>
          <a:xfrm>
            <a:off x="2253202" y="4261220"/>
            <a:ext cx="180765" cy="157542"/>
          </a:xfrm>
          <a:prstGeom prst="ellipse">
            <a:avLst/>
          </a:prstGeom>
          <a:solidFill>
            <a:srgbClr val="FFA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98B79BD-68F9-49D9-B7F3-370C20563820}"/>
              </a:ext>
            </a:extLst>
          </p:cNvPr>
          <p:cNvSpPr/>
          <p:nvPr/>
        </p:nvSpPr>
        <p:spPr>
          <a:xfrm>
            <a:off x="3893219" y="4232788"/>
            <a:ext cx="180765" cy="15754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D40B897-E75C-4A52-BA28-AF7A26AEB549}"/>
              </a:ext>
            </a:extLst>
          </p:cNvPr>
          <p:cNvCxnSpPr>
            <a:cxnSpLocks/>
          </p:cNvCxnSpPr>
          <p:nvPr/>
        </p:nvCxnSpPr>
        <p:spPr>
          <a:xfrm flipH="1" flipV="1">
            <a:off x="3939585" y="5061511"/>
            <a:ext cx="708617" cy="36661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440E60FC-48BB-4EB0-A850-7E37B26E7569}"/>
              </a:ext>
            </a:extLst>
          </p:cNvPr>
          <p:cNvSpPr/>
          <p:nvPr/>
        </p:nvSpPr>
        <p:spPr>
          <a:xfrm>
            <a:off x="3846027" y="4953428"/>
            <a:ext cx="180765" cy="15754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2F6087A-5DE4-457B-B45E-793D212A4B60}"/>
              </a:ext>
            </a:extLst>
          </p:cNvPr>
          <p:cNvSpPr/>
          <p:nvPr/>
        </p:nvSpPr>
        <p:spPr>
          <a:xfrm>
            <a:off x="4548593" y="5294901"/>
            <a:ext cx="244815" cy="25725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B709AA-B824-4F73-9459-9EC0AE5E3288}"/>
              </a:ext>
            </a:extLst>
          </p:cNvPr>
          <p:cNvCxnSpPr>
            <a:cxnSpLocks/>
          </p:cNvCxnSpPr>
          <p:nvPr/>
        </p:nvCxnSpPr>
        <p:spPr>
          <a:xfrm flipH="1">
            <a:off x="1743831" y="5013570"/>
            <a:ext cx="661170" cy="3754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39AF6D7E-0A88-4485-8EE9-B29E06DA14FE}"/>
              </a:ext>
            </a:extLst>
          </p:cNvPr>
          <p:cNvSpPr/>
          <p:nvPr/>
        </p:nvSpPr>
        <p:spPr>
          <a:xfrm>
            <a:off x="1621960" y="5232191"/>
            <a:ext cx="244815" cy="25725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2F610F8-9BAE-45BE-A060-93F911E77DC4}"/>
              </a:ext>
            </a:extLst>
          </p:cNvPr>
          <p:cNvSpPr/>
          <p:nvPr/>
        </p:nvSpPr>
        <p:spPr>
          <a:xfrm>
            <a:off x="2286786" y="4934799"/>
            <a:ext cx="180765" cy="15754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C83CC33-9EAC-4269-A9CE-C3D6E7FE74A3}"/>
              </a:ext>
            </a:extLst>
          </p:cNvPr>
          <p:cNvSpPr/>
          <p:nvPr/>
        </p:nvSpPr>
        <p:spPr>
          <a:xfrm>
            <a:off x="4518666" y="3867170"/>
            <a:ext cx="244815" cy="25725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9A0E6EC-923D-4C00-A7D5-4ECFB374FD90}"/>
              </a:ext>
            </a:extLst>
          </p:cNvPr>
          <p:cNvCxnSpPr>
            <a:cxnSpLocks/>
          </p:cNvCxnSpPr>
          <p:nvPr/>
        </p:nvCxnSpPr>
        <p:spPr>
          <a:xfrm flipH="1" flipV="1">
            <a:off x="1626121" y="3955121"/>
            <a:ext cx="699349" cy="40165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422" name="Oval 17421">
            <a:extLst>
              <a:ext uri="{FF2B5EF4-FFF2-40B4-BE49-F238E27FC236}">
                <a16:creationId xmlns:a16="http://schemas.microsoft.com/office/drawing/2014/main" id="{8BAB9AC1-1768-48D9-A961-2B44E7B7CE3C}"/>
              </a:ext>
            </a:extLst>
          </p:cNvPr>
          <p:cNvSpPr/>
          <p:nvPr/>
        </p:nvSpPr>
        <p:spPr>
          <a:xfrm>
            <a:off x="1529273" y="3830206"/>
            <a:ext cx="244815" cy="257253"/>
          </a:xfrm>
          <a:prstGeom prst="ellipse">
            <a:avLst/>
          </a:prstGeom>
          <a:solidFill>
            <a:srgbClr val="FFA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87077"/>
            <a:ext cx="13575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IQ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B37FF-5D9D-9699-512A-DB8395E10583}"/>
              </a:ext>
            </a:extLst>
          </p:cNvPr>
          <p:cNvSpPr txBox="1"/>
          <p:nvPr/>
        </p:nvSpPr>
        <p:spPr>
          <a:xfrm>
            <a:off x="43764" y="923868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B86DD8A-4816-11B4-AD65-12CF0C4E9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86" y="1241440"/>
            <a:ext cx="6098458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Students in rural Nabha will get access to quality learning materials even      without internet.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Teachers will be able to track student progress and provide personalized support.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Schools will be able to bridge the gap between rural and urban education standards.</a:t>
            </a:r>
          </a:p>
          <a:p>
            <a:pPr eaLnBrk="0" hangingPunct="0"/>
            <a:r>
              <a:rPr lang="en-US" sz="1400" dirty="0">
                <a:latin typeface="Arial" panose="020B0604020202020204" pitchFamily="34" charset="0"/>
              </a:rPr>
              <a:t>Rural students will get equal exposure to modern digital tools as urban students.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48BD6-467F-233D-748F-ABD9B1419CCF}"/>
              </a:ext>
            </a:extLst>
          </p:cNvPr>
          <p:cNvSpPr txBox="1"/>
          <p:nvPr/>
        </p:nvSpPr>
        <p:spPr>
          <a:xfrm>
            <a:off x="6581356" y="858716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61D1AC2-0414-F12E-C94C-D1D84FDDD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873" y="4958122"/>
            <a:ext cx="506446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Empowers rural students with modern learning tools.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Strengthens teacher-student interaction and school 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management.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Creates a sustainable system for continuous learning, even in              low-resource areas.</a:t>
            </a:r>
          </a:p>
          <a:p>
            <a:pPr defTabSz="914400" eaLnBrk="0" hangingPunct="0">
              <a:spcAft>
                <a:spcPts val="60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3976AB-BEE1-A29E-D798-3BDC575818F6}"/>
              </a:ext>
            </a:extLst>
          </p:cNvPr>
          <p:cNvSpPr txBox="1"/>
          <p:nvPr/>
        </p:nvSpPr>
        <p:spPr>
          <a:xfrm>
            <a:off x="8833775" y="1207960"/>
            <a:ext cx="68211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500" b="1" dirty="0">
                <a:latin typeface="Arial" panose="020B0604020202020204" pitchFamily="34" charset="0"/>
              </a:rPr>
              <a:t>Social</a:t>
            </a:r>
            <a:endParaRPr lang="en-US" altLang="en-US" sz="1500" dirty="0"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E8D1E-3514-A80D-6499-776BF0CC9E77}"/>
              </a:ext>
            </a:extLst>
          </p:cNvPr>
          <p:cNvSpPr txBox="1"/>
          <p:nvPr/>
        </p:nvSpPr>
        <p:spPr>
          <a:xfrm>
            <a:off x="6888786" y="1440253"/>
            <a:ext cx="536368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Provides equal learning opportunities for all students.</a:t>
            </a:r>
          </a:p>
          <a:p>
            <a:pPr algn="just"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Encourages inclusive education and helps students with limited </a:t>
            </a:r>
          </a:p>
          <a:p>
            <a:pPr algn="just"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 resources.</a:t>
            </a:r>
            <a:endParaRPr lang="en-IN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D715D0-105F-EF8B-CA6D-D0E62D0E09E9}"/>
              </a:ext>
            </a:extLst>
          </p:cNvPr>
          <p:cNvSpPr txBox="1"/>
          <p:nvPr/>
        </p:nvSpPr>
        <p:spPr>
          <a:xfrm>
            <a:off x="8726274" y="2410520"/>
            <a:ext cx="12871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500" b="1" dirty="0">
                <a:latin typeface="Arial" panose="020B0604020202020204" pitchFamily="34" charset="0"/>
              </a:rPr>
              <a:t>Economic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73494C-D530-F12D-55A6-D6DB6A64131E}"/>
              </a:ext>
            </a:extLst>
          </p:cNvPr>
          <p:cNvSpPr txBox="1"/>
          <p:nvPr/>
        </p:nvSpPr>
        <p:spPr>
          <a:xfrm>
            <a:off x="6780059" y="2709905"/>
            <a:ext cx="68211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  Reduces the cost of printed textbooks and private coaching.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  Prepares students for future digital jobs and skills.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0A8E09-5A84-5DCD-31DF-EB022FB67736}"/>
              </a:ext>
            </a:extLst>
          </p:cNvPr>
          <p:cNvSpPr txBox="1"/>
          <p:nvPr/>
        </p:nvSpPr>
        <p:spPr>
          <a:xfrm>
            <a:off x="8569163" y="3494267"/>
            <a:ext cx="15966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500" b="1" dirty="0">
                <a:latin typeface="Arial" panose="020B0604020202020204" pitchFamily="34" charset="0"/>
              </a:rPr>
              <a:t>Environmental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9F3B8-5A55-301E-7D48-FF80D20E0D2C}"/>
              </a:ext>
            </a:extLst>
          </p:cNvPr>
          <p:cNvSpPr txBox="1"/>
          <p:nvPr/>
        </p:nvSpPr>
        <p:spPr>
          <a:xfrm>
            <a:off x="6937784" y="3723174"/>
            <a:ext cx="522989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Reduces the use of paper by offering digital lessons, notes,                   and assignments.</a:t>
            </a:r>
          </a:p>
          <a:p>
            <a:pPr defTabSz="914400" eaLnBrk="0" hangingPunct="0">
              <a:spcAft>
                <a:spcPts val="6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Minimizes travel to access learning centers, saving time and    energy.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EF1CFD-F027-B384-BF3F-25ADE066158A}"/>
              </a:ext>
            </a:extLst>
          </p:cNvPr>
          <p:cNvSpPr txBox="1"/>
          <p:nvPr/>
        </p:nvSpPr>
        <p:spPr>
          <a:xfrm>
            <a:off x="8856315" y="4777075"/>
            <a:ext cx="11699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500" b="1" dirty="0">
                <a:latin typeface="Arial" panose="020B0604020202020204" pitchFamily="34" charset="0"/>
              </a:rPr>
              <a:t>Overall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22ED7F-F5E4-45FE-9A5F-865A4000E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15" y="1556141"/>
            <a:ext cx="74359" cy="743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8DA2AF9-5469-44BC-A0AE-2E67567FA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5" y="1843451"/>
            <a:ext cx="74359" cy="743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7F4018F-DFF0-4924-B2C2-121137C0C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5" y="2819917"/>
            <a:ext cx="74359" cy="743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D641A4-2AA9-466B-93F3-7FFF6EA7D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753" y="3122276"/>
            <a:ext cx="74359" cy="7435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C2905D8-C020-40AA-B2E8-24BCCA02D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684" y="3831170"/>
            <a:ext cx="74359" cy="743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7F1890-A447-48AE-8F1C-272CDDAE4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184" y="4328340"/>
            <a:ext cx="74359" cy="743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E689D92-2C45-45FD-8EC5-A70F0C884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87" y="5064847"/>
            <a:ext cx="74359" cy="743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1ED7-4431-4D28-9C72-EC9880A03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788" y="5383661"/>
            <a:ext cx="74359" cy="743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9E59DC2-6948-46A2-B22A-C7ADF1AEB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788" y="5953552"/>
            <a:ext cx="74359" cy="743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7854CD9-E74D-48D2-89D1-E18297316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65" y="1370654"/>
            <a:ext cx="74359" cy="743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A4754F9-903A-47B8-A7EE-69BAE040D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64" y="2381511"/>
            <a:ext cx="74359" cy="7435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429F953-35E8-4D80-B5C0-D601B5C18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4" y="1899331"/>
            <a:ext cx="74359" cy="74359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8714E4ED-5096-4E87-BC87-6416F0D666F3}"/>
              </a:ext>
            </a:extLst>
          </p:cNvPr>
          <p:cNvSpPr/>
          <p:nvPr/>
        </p:nvSpPr>
        <p:spPr>
          <a:xfrm>
            <a:off x="2331246" y="3833447"/>
            <a:ext cx="1679490" cy="1574937"/>
          </a:xfrm>
          <a:prstGeom prst="ellipse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EA6956-07AA-4497-B44A-5411456EF5FA}"/>
              </a:ext>
            </a:extLst>
          </p:cNvPr>
          <p:cNvSpPr txBox="1"/>
          <p:nvPr/>
        </p:nvSpPr>
        <p:spPr>
          <a:xfrm>
            <a:off x="2605459" y="4218103"/>
            <a:ext cx="11962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 Benefits </a:t>
            </a:r>
          </a:p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   of the</a:t>
            </a:r>
          </a:p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 Solution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6D0E7F9-74F1-476E-BD0D-253EFBDBB25F}"/>
              </a:ext>
            </a:extLst>
          </p:cNvPr>
          <p:cNvSpPr/>
          <p:nvPr/>
        </p:nvSpPr>
        <p:spPr>
          <a:xfrm>
            <a:off x="146079" y="3360495"/>
            <a:ext cx="1480040" cy="10652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E07901F-F7CE-4947-B1C4-2E1EBC19082C}"/>
              </a:ext>
            </a:extLst>
          </p:cNvPr>
          <p:cNvSpPr/>
          <p:nvPr/>
        </p:nvSpPr>
        <p:spPr>
          <a:xfrm>
            <a:off x="178165" y="5262055"/>
            <a:ext cx="1575730" cy="10652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941F6CD-C2A9-4B6E-8DD3-FF152AEB7F18}"/>
              </a:ext>
            </a:extLst>
          </p:cNvPr>
          <p:cNvSpPr/>
          <p:nvPr/>
        </p:nvSpPr>
        <p:spPr>
          <a:xfrm>
            <a:off x="4670657" y="3389061"/>
            <a:ext cx="1596667" cy="10652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9CB228D-DC9C-48B6-A751-49E087677CBA}"/>
              </a:ext>
            </a:extLst>
          </p:cNvPr>
          <p:cNvSpPr/>
          <p:nvPr/>
        </p:nvSpPr>
        <p:spPr>
          <a:xfrm>
            <a:off x="4656012" y="5245855"/>
            <a:ext cx="1596666" cy="10652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8EA29D-0F89-41B2-A123-C4709C1873EE}"/>
              </a:ext>
            </a:extLst>
          </p:cNvPr>
          <p:cNvSpPr txBox="1"/>
          <p:nvPr/>
        </p:nvSpPr>
        <p:spPr>
          <a:xfrm>
            <a:off x="501027" y="3495320"/>
            <a:ext cx="94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Social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2D3CF9-A1FE-40E0-B94A-21BBD4343153}"/>
              </a:ext>
            </a:extLst>
          </p:cNvPr>
          <p:cNvSpPr txBox="1"/>
          <p:nvPr/>
        </p:nvSpPr>
        <p:spPr>
          <a:xfrm>
            <a:off x="4878840" y="3520813"/>
            <a:ext cx="1488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Economic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50106B-8B09-4C0E-BB5F-7E72AA701F54}"/>
              </a:ext>
            </a:extLst>
          </p:cNvPr>
          <p:cNvSpPr txBox="1"/>
          <p:nvPr/>
        </p:nvSpPr>
        <p:spPr>
          <a:xfrm>
            <a:off x="4976387" y="5364239"/>
            <a:ext cx="119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Overall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837573-A260-43C2-811B-72D534C5EE70}"/>
              </a:ext>
            </a:extLst>
          </p:cNvPr>
          <p:cNvSpPr txBox="1"/>
          <p:nvPr/>
        </p:nvSpPr>
        <p:spPr>
          <a:xfrm>
            <a:off x="177740" y="5394478"/>
            <a:ext cx="16720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hangingPunct="0"/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Environmental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7439" name="Picture 17438">
            <a:extLst>
              <a:ext uri="{FF2B5EF4-FFF2-40B4-BE49-F238E27FC236}">
                <a16:creationId xmlns:a16="http://schemas.microsoft.com/office/drawing/2014/main" id="{EAA3D0E0-DAC9-40F5-B199-876843E62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82" y="3834419"/>
            <a:ext cx="422190" cy="422190"/>
          </a:xfrm>
          <a:prstGeom prst="rect">
            <a:avLst/>
          </a:prstGeom>
        </p:spPr>
      </p:pic>
      <p:pic>
        <p:nvPicPr>
          <p:cNvPr id="17442" name="Picture 17441">
            <a:extLst>
              <a:ext uri="{FF2B5EF4-FFF2-40B4-BE49-F238E27FC236}">
                <a16:creationId xmlns:a16="http://schemas.microsoft.com/office/drawing/2014/main" id="{19B632F3-CA11-4528-9AD9-D963D12F9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82" y="5740467"/>
            <a:ext cx="422190" cy="422190"/>
          </a:xfrm>
          <a:prstGeom prst="rect">
            <a:avLst/>
          </a:prstGeom>
        </p:spPr>
      </p:pic>
      <p:pic>
        <p:nvPicPr>
          <p:cNvPr id="17444" name="Picture 17443">
            <a:extLst>
              <a:ext uri="{FF2B5EF4-FFF2-40B4-BE49-F238E27FC236}">
                <a16:creationId xmlns:a16="http://schemas.microsoft.com/office/drawing/2014/main" id="{B390AD9D-7307-42CB-B9F2-2BE7BAF283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4067" y="3840822"/>
            <a:ext cx="481705" cy="481705"/>
          </a:xfrm>
          <a:prstGeom prst="rect">
            <a:avLst/>
          </a:prstGeom>
        </p:spPr>
      </p:pic>
      <p:pic>
        <p:nvPicPr>
          <p:cNvPr id="17448" name="Picture 17447">
            <a:extLst>
              <a:ext uri="{FF2B5EF4-FFF2-40B4-BE49-F238E27FC236}">
                <a16:creationId xmlns:a16="http://schemas.microsoft.com/office/drawing/2014/main" id="{B7901472-A6E8-4008-867B-F4702A51E9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5256003" y="5709118"/>
            <a:ext cx="425973" cy="425973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AB2655E4-F146-49FE-9C31-0D48C2BE1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97" y="2876112"/>
            <a:ext cx="74359" cy="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prstClr val="white"/>
                </a:solidFill>
              </a:rPr>
              <a:t>@SIH Idea submission- Template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B868ECF8-E357-480A-A22E-1E672DEE3C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87077"/>
            <a:ext cx="13575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IQ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131E8-A174-4500-BCEB-9BEB1CD26163}"/>
              </a:ext>
            </a:extLst>
          </p:cNvPr>
          <p:cNvSpPr txBox="1"/>
          <p:nvPr/>
        </p:nvSpPr>
        <p:spPr>
          <a:xfrm>
            <a:off x="201672" y="1291019"/>
            <a:ext cx="5584535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Government Reports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National Education Policy (NEP 2020), Digital India program insights.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UNESCO Reports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Challenges in rural education and digital inclusion.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Field Studies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Research papers on offline-first learning apps and rural internet access.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Existing Solutions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Study of platforms like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Khan Academy,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Rumie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 BRCK,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eGranary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their limitations.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Surveys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Statistics on rural India’s device ownership, internet access, and literacy levels.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3E62A-BF2B-41AC-A1C3-602DA27ED17A}"/>
              </a:ext>
            </a:extLst>
          </p:cNvPr>
          <p:cNvSpPr txBox="1"/>
          <p:nvPr/>
        </p:nvSpPr>
        <p:spPr>
          <a:xfrm>
            <a:off x="36780" y="854622"/>
            <a:ext cx="60935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Sources Used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0BB5D1-C8C4-4862-809B-2A5220AAACA7}"/>
              </a:ext>
            </a:extLst>
          </p:cNvPr>
          <p:cNvSpPr txBox="1"/>
          <p:nvPr/>
        </p:nvSpPr>
        <p:spPr>
          <a:xfrm>
            <a:off x="44637" y="3829631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4E0E086-E7B5-4538-9E3E-D24940075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22" y="4123879"/>
            <a:ext cx="4999917" cy="166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400" b="1" dirty="0">
                <a:latin typeface="Arial" panose="020B0604020202020204" pitchFamily="34" charset="0"/>
              </a:rPr>
              <a:t>National Education Policy (NEP 2020)</a:t>
            </a:r>
            <a:r>
              <a:rPr lang="en-US" altLang="en-US" sz="1400" dirty="0">
                <a:latin typeface="Arial" panose="020B0604020202020204" pitchFamily="34" charset="0"/>
              </a:rPr>
              <a:t> – </a:t>
            </a:r>
            <a:r>
              <a:rPr lang="en-US" altLang="en-US" sz="1400" dirty="0">
                <a:solidFill>
                  <a:srgbClr val="0000FF"/>
                </a:solidFill>
                <a:latin typeface="Arial" panose="020B0604020202020204" pitchFamily="34" charset="0"/>
              </a:rPr>
              <a:t>https://www.education.gov.in/nep</a:t>
            </a:r>
          </a:p>
          <a:p>
            <a:pPr marL="342900" indent="-342900" defTabSz="9144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atin typeface="Arial" panose="020B0604020202020204" pitchFamily="34" charset="0"/>
              </a:rPr>
              <a:t>Kolibri</a:t>
            </a:r>
            <a:r>
              <a:rPr 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</a:rPr>
              <a:t>– </a:t>
            </a:r>
            <a:r>
              <a:rPr lang="en-US" altLang="en-US" sz="1400" dirty="0">
                <a:latin typeface="Arial" panose="020B0604020202020204" pitchFamily="34" charset="0"/>
                <a:hlinkClick r:id="rId4"/>
              </a:rPr>
              <a:t>https://learningequality.org/kolibri/about-kolibri/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342900" indent="-342900" defTabSz="9144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</a:rPr>
              <a:t>DIKSHA</a:t>
            </a:r>
            <a:r>
              <a:rPr lang="en-US" altLang="en-US" sz="1400" dirty="0">
                <a:latin typeface="Arial" panose="020B0604020202020204" pitchFamily="34" charset="0"/>
              </a:rPr>
              <a:t>– </a:t>
            </a:r>
            <a:r>
              <a:rPr lang="en-US" altLang="en-US" sz="1400" dirty="0">
                <a:solidFill>
                  <a:srgbClr val="0000FF"/>
                </a:solidFill>
                <a:latin typeface="Arial" panose="020B0604020202020204" pitchFamily="34" charset="0"/>
                <a:hlinkClick r:id="rId5"/>
              </a:rPr>
              <a:t>https://pmevidya.education.gov.in/diksha.html</a:t>
            </a:r>
            <a:endParaRPr lang="en-US" altLang="en-US" sz="14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342900" indent="-342900" defTabSz="9144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400" b="1" dirty="0">
                <a:latin typeface="Arial" panose="020B0604020202020204" pitchFamily="34" charset="0"/>
              </a:rPr>
              <a:t>BRCK Education – Kio Kit</a:t>
            </a:r>
            <a:r>
              <a:rPr lang="en-US" altLang="en-US" sz="1400" dirty="0">
                <a:latin typeface="Arial" panose="020B0604020202020204" pitchFamily="34" charset="0"/>
              </a:rPr>
              <a:t> – </a:t>
            </a:r>
            <a:r>
              <a:rPr lang="en-US" altLang="en-US" sz="1400" dirty="0">
                <a:solidFill>
                  <a:srgbClr val="0000FF"/>
                </a:solidFill>
                <a:latin typeface="Arial" panose="020B0604020202020204" pitchFamily="34" charset="0"/>
              </a:rPr>
              <a:t>https://brck.com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762A342-F6AD-4F38-B63B-3B6DED475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43124"/>
              </p:ext>
            </p:extLst>
          </p:nvPr>
        </p:nvGraphicFramePr>
        <p:xfrm>
          <a:off x="5786205" y="1113741"/>
          <a:ext cx="6309056" cy="5153567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421297">
                  <a:extLst>
                    <a:ext uri="{9D8B030D-6E8A-4147-A177-3AD203B41FA5}">
                      <a16:colId xmlns:a16="http://schemas.microsoft.com/office/drawing/2014/main" val="4182353230"/>
                    </a:ext>
                  </a:extLst>
                </a:gridCol>
                <a:gridCol w="1102326">
                  <a:extLst>
                    <a:ext uri="{9D8B030D-6E8A-4147-A177-3AD203B41FA5}">
                      <a16:colId xmlns:a16="http://schemas.microsoft.com/office/drawing/2014/main" val="2425198343"/>
                    </a:ext>
                  </a:extLst>
                </a:gridCol>
                <a:gridCol w="1261811">
                  <a:extLst>
                    <a:ext uri="{9D8B030D-6E8A-4147-A177-3AD203B41FA5}">
                      <a16:colId xmlns:a16="http://schemas.microsoft.com/office/drawing/2014/main" val="44603203"/>
                    </a:ext>
                  </a:extLst>
                </a:gridCol>
                <a:gridCol w="1261811">
                  <a:extLst>
                    <a:ext uri="{9D8B030D-6E8A-4147-A177-3AD203B41FA5}">
                      <a16:colId xmlns:a16="http://schemas.microsoft.com/office/drawing/2014/main" val="4172695424"/>
                    </a:ext>
                  </a:extLst>
                </a:gridCol>
                <a:gridCol w="1261811">
                  <a:extLst>
                    <a:ext uri="{9D8B030D-6E8A-4147-A177-3AD203B41FA5}">
                      <a16:colId xmlns:a16="http://schemas.microsoft.com/office/drawing/2014/main" val="468965949"/>
                    </a:ext>
                  </a:extLst>
                </a:gridCol>
              </a:tblGrid>
              <a:tr h="310327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Feature</a:t>
                      </a:r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err="1"/>
                        <a:t>Kolibri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DIKSHA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Punjab Educare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Our App</a:t>
                      </a:r>
                      <a:r>
                        <a:rPr lang="en-US" sz="1300" dirty="0"/>
                        <a:t> </a:t>
                      </a:r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492254"/>
                  </a:ext>
                </a:extLst>
              </a:tr>
              <a:tr h="328160">
                <a:tc>
                  <a:txBody>
                    <a:bodyPr/>
                    <a:lstStyle/>
                    <a:p>
                      <a:r>
                        <a:rPr lang="en-US" sz="1300" b="1"/>
                        <a:t>Offline Access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64525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/>
                        <a:t>Local Language Support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433691"/>
                  </a:ext>
                </a:extLst>
              </a:tr>
              <a:tr h="375944">
                <a:tc>
                  <a:txBody>
                    <a:bodyPr/>
                    <a:lstStyle/>
                    <a:p>
                      <a:r>
                        <a:rPr lang="en-US" sz="1300" b="1"/>
                        <a:t>Teacher Dashboard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699798"/>
                  </a:ext>
                </a:extLst>
              </a:tr>
              <a:tr h="452591">
                <a:tc>
                  <a:txBody>
                    <a:bodyPr/>
                    <a:lstStyle/>
                    <a:p>
                      <a:r>
                        <a:rPr lang="en-US" sz="1300" b="1"/>
                        <a:t>Parent Communication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685338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 dirty="0"/>
                        <a:t>AI Tutor (Voice + Adaptive)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581572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/>
                        <a:t>Offline Code Editor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906456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/>
                        <a:t>Gamification &amp; Rewards</a:t>
                      </a:r>
                      <a:endParaRPr lang="en-US" sz="130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581979"/>
                  </a:ext>
                </a:extLst>
              </a:tr>
              <a:tr h="360914">
                <a:tc>
                  <a:txBody>
                    <a:bodyPr/>
                    <a:lstStyle/>
                    <a:p>
                      <a:r>
                        <a:rPr lang="en-US" sz="1300" b="1" dirty="0"/>
                        <a:t>Sync Method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006598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 dirty="0"/>
                        <a:t>Accessibility (SLD/Disabled)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411533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 dirty="0"/>
                        <a:t>Community Integration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801301"/>
                  </a:ext>
                </a:extLst>
              </a:tr>
              <a:tr h="443029">
                <a:tc>
                  <a:txBody>
                    <a:bodyPr/>
                    <a:lstStyle/>
                    <a:p>
                      <a:r>
                        <a:rPr lang="en-US" sz="1300" b="1" dirty="0"/>
                        <a:t>Scalability &amp; Future</a:t>
                      </a:r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335" marR="65335" marT="32667" marB="32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725861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F1322456-842A-4758-B3C0-7D15EFEF9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523" y="1456022"/>
            <a:ext cx="337126" cy="3371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1431AF-BDA4-4AB6-86EB-30991A9C5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523" y="1881806"/>
            <a:ext cx="337126" cy="3371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AA1DF76-25BB-4A8E-A60E-B764D0C7A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533" y="2306807"/>
            <a:ext cx="337126" cy="3371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B0A89F-B5D2-47A1-8EA6-B20350EC1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170" y="1865066"/>
            <a:ext cx="337126" cy="3371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396DE0C-E726-4286-B71C-0AFBE77C5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837" y="2324129"/>
            <a:ext cx="337126" cy="3371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E950151-B441-4774-BFDF-82BCE87A9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417" y="1866239"/>
            <a:ext cx="337126" cy="3371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CA208CE-B7DE-448C-9F48-CA105C2D9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0984" y="1865066"/>
            <a:ext cx="337126" cy="3371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43A702-8FC1-4326-A5A1-C3407BCDE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779" y="2320364"/>
            <a:ext cx="337126" cy="33712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A2F035-040D-4A22-945D-54A2BA0656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5922" y="2767996"/>
            <a:ext cx="337126" cy="33712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FB9FFBC-724A-4F54-9BB4-1CC262743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0984" y="1443169"/>
            <a:ext cx="337126" cy="3371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DF44EEC-E937-47B7-A95C-1AE9C9552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0984" y="3254912"/>
            <a:ext cx="337126" cy="33712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1A75832-7AC9-4276-A72D-0FB5E92A0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823" y="3728298"/>
            <a:ext cx="337126" cy="33712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F38170-B42D-47EC-B62F-696850C49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823" y="4161076"/>
            <a:ext cx="337126" cy="33712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D0F478-41EA-4D12-A5FE-D7F85E839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823" y="4577270"/>
            <a:ext cx="337126" cy="3371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26FAABD-282F-40A7-9BEE-E038FA330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823" y="5029147"/>
            <a:ext cx="337126" cy="33712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EBE6774-C714-4550-8B05-3D553F44A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823" y="5431809"/>
            <a:ext cx="337126" cy="33712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414B8AD-151F-4716-8FA9-D7723536E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0984" y="5883686"/>
            <a:ext cx="337126" cy="33712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D4CEFDE-561B-4CF8-A7FA-8B54C04B4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8914" y="4586211"/>
            <a:ext cx="337126" cy="3371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D589403-A025-4783-A328-16E96F013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5445" y="4586211"/>
            <a:ext cx="337126" cy="3371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12F1ED4-A7F6-4125-A765-85EA8CAF25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364" y="4590092"/>
            <a:ext cx="337126" cy="33712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38B55AD-6D65-4721-881B-EC35FD42C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256" y="4146105"/>
            <a:ext cx="337126" cy="33712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419AC15-25EC-43D5-A69E-3293D1D84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523" y="5878180"/>
            <a:ext cx="337126" cy="33712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37129DA-CD3A-48C7-AA8E-E74D8B62C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026" y="5909414"/>
            <a:ext cx="337126" cy="3371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18A2E80-35EA-4113-AC18-E8831CFB7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7148" y="2824230"/>
            <a:ext cx="220661" cy="22066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5A14CA-21A7-4E46-9A94-F4C69CDD6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716" y="3282794"/>
            <a:ext cx="220661" cy="2206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0E72A7D-05B9-4AFF-8DBB-7D9FD84111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716" y="3751605"/>
            <a:ext cx="220661" cy="22066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5A17F4D-14E3-4DB4-B664-45A4A4B80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716" y="1492152"/>
            <a:ext cx="220661" cy="22066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37E99B6-8AB1-4242-BF2D-096C0978B6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7148" y="4204339"/>
            <a:ext cx="220661" cy="22066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4653D22-B6EC-477B-A68D-8D0D75590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715" y="5033099"/>
            <a:ext cx="220661" cy="22066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B0FEA4F-709C-4A67-8894-4AC694B40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5341" y="5476539"/>
            <a:ext cx="220661" cy="22066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6456102-3CCB-431D-94E9-CC6B4A8B6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7663" y="2823595"/>
            <a:ext cx="220661" cy="22066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28AF622-92CD-487E-8F01-B7E26AF1EF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5059" y="3286548"/>
            <a:ext cx="220661" cy="22066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5FCA7C3-6581-4F13-AA48-E693D721E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7663" y="3725078"/>
            <a:ext cx="220661" cy="22066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D70B5EC-F4EA-4A1E-AE4B-076796D93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5812" y="3286542"/>
            <a:ext cx="220661" cy="22066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048DB9A-5769-4B59-9F5C-1D579D00CE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877" y="2823595"/>
            <a:ext cx="220661" cy="22066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47C1455-B0BF-4D25-AE1E-3E0292AEE6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877" y="3726425"/>
            <a:ext cx="220661" cy="22066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1E3CDDD-800C-4493-8AC3-F0D067CDB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877" y="5027517"/>
            <a:ext cx="220661" cy="22066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C0C577E-76FA-4633-9E00-C8E47D7A8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4128" y="5029149"/>
            <a:ext cx="220661" cy="22066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2708080-E440-41B2-8C70-2B1DE8BDE6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877" y="5481303"/>
            <a:ext cx="220661" cy="22066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D6C1745-0630-4398-9151-26E7AD3296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4393" y="1409883"/>
            <a:ext cx="361995" cy="36199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26E8BE3-8EEF-4CB6-8054-6A28F1BF77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8088" y="2296231"/>
            <a:ext cx="361995" cy="36199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E311D4A9-3562-45C3-B050-4B62A5521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4047" y="5881579"/>
            <a:ext cx="361995" cy="36199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1FEC9E9-A812-429F-B377-38A41293A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0159" y="5415555"/>
            <a:ext cx="361995" cy="36199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EFA2A15-DF53-4DE7-97A9-39E7816010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5731" y="4136305"/>
            <a:ext cx="361995" cy="36199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7D46B218-434F-46C0-A4D9-218E9CA461C2}"/>
              </a:ext>
            </a:extLst>
          </p:cNvPr>
          <p:cNvSpPr txBox="1"/>
          <p:nvPr/>
        </p:nvSpPr>
        <p:spPr>
          <a:xfrm>
            <a:off x="33868" y="5856491"/>
            <a:ext cx="6647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Link : </a:t>
            </a:r>
            <a:r>
              <a:rPr lang="en-US" sz="14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https://v0-digital-learning-platform-ebon.vercel.app/ 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11048</TotalTime>
  <Words>1056</Words>
  <Application>Microsoft Office PowerPoint</Application>
  <PresentationFormat>Widescreen</PresentationFormat>
  <Paragraphs>190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A TRANSFORMING DIGITAL PLATFORM FOR  INCLUSIVE RURAL EDUCATION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Suresh G</cp:lastModifiedBy>
  <cp:revision>292</cp:revision>
  <dcterms:created xsi:type="dcterms:W3CDTF">2013-12-12T18:46:50Z</dcterms:created>
  <dcterms:modified xsi:type="dcterms:W3CDTF">2025-09-27T06:29:35Z</dcterms:modified>
  <cp:category/>
</cp:coreProperties>
</file>